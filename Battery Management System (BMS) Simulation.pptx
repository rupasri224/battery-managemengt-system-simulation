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406E9-BD51-E68F-8CCB-A5A2334B48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0A0A29-10D9-48F3-AAD1-09ACFCC139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A1CAE6-4C05-983C-B33D-6DB8942C9CAA}"/>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5" name="Footer Placeholder 4">
            <a:extLst>
              <a:ext uri="{FF2B5EF4-FFF2-40B4-BE49-F238E27FC236}">
                <a16:creationId xmlns:a16="http://schemas.microsoft.com/office/drawing/2014/main" id="{C2C5D186-5BDE-118F-8C3C-7E97EAB740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6AC560-8006-EAD5-B969-673A6033077D}"/>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3437368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D772-29F1-612E-7830-A913BE4D07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5377C3-44CB-6275-2738-5EEAE7C20A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3E3F3D-6D4B-060E-37A3-3A0256EB248C}"/>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5" name="Footer Placeholder 4">
            <a:extLst>
              <a:ext uri="{FF2B5EF4-FFF2-40B4-BE49-F238E27FC236}">
                <a16:creationId xmlns:a16="http://schemas.microsoft.com/office/drawing/2014/main" id="{EAF0916B-1D97-6804-912E-EE645ACA33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EBEF87-838D-D823-673D-7BC919FAF292}"/>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311791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97CAB-C1D9-3105-94B9-E1B22950E0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B6D80D-1AFC-3878-75E8-CA0C070411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1CC6A6-C0DB-C12F-D18A-341262DDDAA0}"/>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5" name="Footer Placeholder 4">
            <a:extLst>
              <a:ext uri="{FF2B5EF4-FFF2-40B4-BE49-F238E27FC236}">
                <a16:creationId xmlns:a16="http://schemas.microsoft.com/office/drawing/2014/main" id="{9E359CCD-AC63-B54B-77F1-DBEF2E7229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C0B9BC-479C-AB0F-0809-6CA38276B1A5}"/>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3165667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CE99E-AB0F-639C-A475-237D1F18F2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C884C8-59FF-C879-7B99-FFAA435111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574C4C6-3F19-5E99-9A37-A94F701AF4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32A36C-4528-19CA-E047-18ECDD6AC126}"/>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6" name="Footer Placeholder 5">
            <a:extLst>
              <a:ext uri="{FF2B5EF4-FFF2-40B4-BE49-F238E27FC236}">
                <a16:creationId xmlns:a16="http://schemas.microsoft.com/office/drawing/2014/main" id="{1E35E599-965F-3B9C-ECF0-E9977A8B50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E715B6-1591-C420-0E8E-D7F81EECE0D4}"/>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3413653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73EBB-259E-B09D-FF0D-8758ED2E21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7010FB-CC2F-8581-B231-27D6762BFE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871402-9338-6168-8D82-E77C285E0D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A28FE5-CC8F-CD92-FCF7-688FE0E324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AD8002-D2ED-6989-7DB0-28CAA84E53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C77F12-7B58-2FC9-B121-7AD0DB0E088F}"/>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8" name="Footer Placeholder 7">
            <a:extLst>
              <a:ext uri="{FF2B5EF4-FFF2-40B4-BE49-F238E27FC236}">
                <a16:creationId xmlns:a16="http://schemas.microsoft.com/office/drawing/2014/main" id="{D7FB78FB-EAF3-8A9C-AE37-1B14F5139B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C40CA7-8A01-D46C-8DD4-A981C128EBA2}"/>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2596318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88FF-BEEF-63AF-39CA-DDA70F8DFA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A3ECDB-DA74-C144-961C-79B33A229F9D}"/>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4" name="Footer Placeholder 3">
            <a:extLst>
              <a:ext uri="{FF2B5EF4-FFF2-40B4-BE49-F238E27FC236}">
                <a16:creationId xmlns:a16="http://schemas.microsoft.com/office/drawing/2014/main" id="{790B4FA9-90DA-DE3B-555F-8F99B51DEF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EF6B5B-F2D2-C515-1F76-9DCA82FE3298}"/>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55182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F8F523-7C7B-0E1D-6916-2DD3D738397A}"/>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3" name="Footer Placeholder 2">
            <a:extLst>
              <a:ext uri="{FF2B5EF4-FFF2-40B4-BE49-F238E27FC236}">
                <a16:creationId xmlns:a16="http://schemas.microsoft.com/office/drawing/2014/main" id="{8F277773-D2D6-D9E4-C114-47B868C0AC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75A8A5-9B03-F988-8E45-BBEE3BF00FDD}"/>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2639999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68EC8-9193-3B60-747D-84BB8B7070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75A0BD0-F570-F9D3-4527-D124DF8A5B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D3F830-7441-BB36-799D-C3256ABD1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C9DE6E-1A70-2DD0-0515-A7BB155C6657}"/>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6" name="Footer Placeholder 5">
            <a:extLst>
              <a:ext uri="{FF2B5EF4-FFF2-40B4-BE49-F238E27FC236}">
                <a16:creationId xmlns:a16="http://schemas.microsoft.com/office/drawing/2014/main" id="{F98AF5C8-9F82-00D8-B621-826B323CEE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C142C8-FA75-4679-F015-2BADD9A1E2D3}"/>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150585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E1AE-1D0B-165F-BB48-B8F5DFE442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7AEE10-D731-F9BF-B44B-74F48174A1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884A94-9B4F-9D71-C997-E254C40C9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D9E24-0EFB-E810-8F2E-C1B54CA988EA}"/>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6" name="Footer Placeholder 5">
            <a:extLst>
              <a:ext uri="{FF2B5EF4-FFF2-40B4-BE49-F238E27FC236}">
                <a16:creationId xmlns:a16="http://schemas.microsoft.com/office/drawing/2014/main" id="{8FE17D3E-C0F9-8AFA-6AB7-9B83139847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C6AEDB-1427-2E2F-0AF0-351C82C5E53B}"/>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3147936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88E7B-D83D-4E69-05CB-29FBFD195E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79E9DD-5853-1480-FA8A-B9F1AED6B7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496519-69FA-7908-64FF-FF4F7D9CD582}"/>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5" name="Footer Placeholder 4">
            <a:extLst>
              <a:ext uri="{FF2B5EF4-FFF2-40B4-BE49-F238E27FC236}">
                <a16:creationId xmlns:a16="http://schemas.microsoft.com/office/drawing/2014/main" id="{2F851D9B-DCE0-F560-E4D5-5919BB4819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6745EB-5AF0-868C-1C7C-F1E76AFAED84}"/>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229157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FE22E0-510C-5903-A077-B40D35D5C7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501519-4CCE-67D3-157D-ED6CCAA3A3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A47235-B048-6A77-F435-324C190A1423}"/>
              </a:ext>
            </a:extLst>
          </p:cNvPr>
          <p:cNvSpPr>
            <a:spLocks noGrp="1"/>
          </p:cNvSpPr>
          <p:nvPr>
            <p:ph type="dt" sz="half" idx="10"/>
          </p:nvPr>
        </p:nvSpPr>
        <p:spPr/>
        <p:txBody>
          <a:bodyPr/>
          <a:lstStyle/>
          <a:p>
            <a:fld id="{F8643995-B7CA-4DF9-AF72-AAF5B5FDA683}" type="datetimeFigureOut">
              <a:rPr lang="en-IN" smtClean="0"/>
              <a:t>19-07-2026</a:t>
            </a:fld>
            <a:endParaRPr lang="en-IN"/>
          </a:p>
        </p:txBody>
      </p:sp>
      <p:sp>
        <p:nvSpPr>
          <p:cNvPr id="5" name="Footer Placeholder 4">
            <a:extLst>
              <a:ext uri="{FF2B5EF4-FFF2-40B4-BE49-F238E27FC236}">
                <a16:creationId xmlns:a16="http://schemas.microsoft.com/office/drawing/2014/main" id="{9313752E-B4B4-E9F3-BAE3-32A21666D3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9760AD-9CD3-3035-F68D-323730A27CA2}"/>
              </a:ext>
            </a:extLst>
          </p:cNvPr>
          <p:cNvSpPr>
            <a:spLocks noGrp="1"/>
          </p:cNvSpPr>
          <p:nvPr>
            <p:ph type="sldNum" sz="quarter" idx="12"/>
          </p:nvPr>
        </p:nvSpPr>
        <p:spPr/>
        <p:txBody>
          <a:bodyPr/>
          <a:lstStyle/>
          <a:p>
            <a:fld id="{30609332-3945-4E55-844A-39EBC169928B}" type="slidenum">
              <a:rPr lang="en-IN" smtClean="0"/>
              <a:t>‹#›</a:t>
            </a:fld>
            <a:endParaRPr lang="en-IN"/>
          </a:p>
        </p:txBody>
      </p:sp>
    </p:spTree>
    <p:extLst>
      <p:ext uri="{BB962C8B-B14F-4D97-AF65-F5344CB8AC3E}">
        <p14:creationId xmlns:p14="http://schemas.microsoft.com/office/powerpoint/2010/main" val="4002467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E986A6-83B7-04BD-B38C-9C279315B3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5DD166-AC98-0636-06C7-1391C03DD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9B5A57-6E01-8AC8-B6BC-CBAC7252F7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643995-B7CA-4DF9-AF72-AAF5B5FDA683}" type="datetimeFigureOut">
              <a:rPr lang="en-IN" smtClean="0"/>
              <a:t>19-07-2026</a:t>
            </a:fld>
            <a:endParaRPr lang="en-IN"/>
          </a:p>
        </p:txBody>
      </p:sp>
      <p:sp>
        <p:nvSpPr>
          <p:cNvPr id="5" name="Footer Placeholder 4">
            <a:extLst>
              <a:ext uri="{FF2B5EF4-FFF2-40B4-BE49-F238E27FC236}">
                <a16:creationId xmlns:a16="http://schemas.microsoft.com/office/drawing/2014/main" id="{8FFA7196-EFE4-EDB6-F372-BE9ADAA4CA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AA2956-E875-466D-720B-8C10EA855D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609332-3945-4E55-844A-39EBC169928B}" type="slidenum">
              <a:rPr lang="en-IN" smtClean="0"/>
              <a:t>‹#›</a:t>
            </a:fld>
            <a:endParaRPr lang="en-IN"/>
          </a:p>
        </p:txBody>
      </p:sp>
    </p:spTree>
    <p:extLst>
      <p:ext uri="{BB962C8B-B14F-4D97-AF65-F5344CB8AC3E}">
        <p14:creationId xmlns:p14="http://schemas.microsoft.com/office/powerpoint/2010/main" val="10191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737D3-14B3-4E28-9C57-CFB18C483D9C}"/>
              </a:ext>
            </a:extLst>
          </p:cNvPr>
          <p:cNvSpPr>
            <a:spLocks noGrp="1"/>
          </p:cNvSpPr>
          <p:nvPr>
            <p:ph type="ctrTitle"/>
          </p:nvPr>
        </p:nvSpPr>
        <p:spPr/>
        <p:txBody>
          <a:bodyPr/>
          <a:lstStyle/>
          <a:p>
            <a:r>
              <a:rPr lang="en-US" dirty="0">
                <a:latin typeface="Bahnschrift Condensed" panose="020B0502040204020203" pitchFamily="34" charset="0"/>
              </a:rPr>
              <a:t>Battery Management System (BMS) Simulation</a:t>
            </a:r>
            <a:endParaRPr lang="en-IN" dirty="0">
              <a:latin typeface="Bahnschrift Condensed" panose="020B0502040204020203" pitchFamily="34" charset="0"/>
            </a:endParaRPr>
          </a:p>
        </p:txBody>
      </p:sp>
      <p:sp>
        <p:nvSpPr>
          <p:cNvPr id="3" name="Subtitle 2">
            <a:extLst>
              <a:ext uri="{FF2B5EF4-FFF2-40B4-BE49-F238E27FC236}">
                <a16:creationId xmlns:a16="http://schemas.microsoft.com/office/drawing/2014/main" id="{B26D367E-FB74-705D-C743-278357687071}"/>
              </a:ext>
            </a:extLst>
          </p:cNvPr>
          <p:cNvSpPr>
            <a:spLocks noGrp="1"/>
          </p:cNvSpPr>
          <p:nvPr>
            <p:ph type="subTitle" idx="1"/>
          </p:nvPr>
        </p:nvSpPr>
        <p:spPr/>
        <p:txBody>
          <a:bodyPr>
            <a:normAutofit fontScale="62500" lnSpcReduction="20000"/>
          </a:bodyPr>
          <a:lstStyle/>
          <a:p>
            <a:r>
              <a:rPr lang="en-US" dirty="0"/>
              <a:t>Monitoring Battery Voltage, Temperature, Charging, and Discharging Conditions for Efficient Battery Performance and Safety</a:t>
            </a:r>
          </a:p>
          <a:p>
            <a:endParaRPr lang="en-US" dirty="0"/>
          </a:p>
          <a:p>
            <a:pPr algn="r"/>
            <a:r>
              <a:rPr lang="en-US" dirty="0"/>
              <a:t>Submitted By:</a:t>
            </a:r>
          </a:p>
          <a:p>
            <a:pPr algn="r"/>
            <a:r>
              <a:rPr lang="en-US" dirty="0"/>
              <a:t>Name :Boge Rupa </a:t>
            </a:r>
            <a:r>
              <a:rPr lang="en-US" dirty="0" err="1"/>
              <a:t>sri</a:t>
            </a:r>
            <a:endParaRPr lang="en-US" dirty="0"/>
          </a:p>
          <a:p>
            <a:pPr algn="r"/>
            <a:r>
              <a:rPr lang="en-US" dirty="0"/>
              <a:t>ID:6397 </a:t>
            </a:r>
          </a:p>
        </p:txBody>
      </p:sp>
    </p:spTree>
    <p:extLst>
      <p:ext uri="{BB962C8B-B14F-4D97-AF65-F5344CB8AC3E}">
        <p14:creationId xmlns:p14="http://schemas.microsoft.com/office/powerpoint/2010/main" val="4194727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6E01E-F972-E9D0-C7C5-0708CCE329C0}"/>
              </a:ext>
            </a:extLst>
          </p:cNvPr>
          <p:cNvSpPr>
            <a:spLocks noGrp="1"/>
          </p:cNvSpPr>
          <p:nvPr>
            <p:ph type="title"/>
          </p:nvPr>
        </p:nvSpPr>
        <p:spPr/>
        <p:txBody>
          <a:bodyPr/>
          <a:lstStyle/>
          <a:p>
            <a:pPr algn="ctr"/>
            <a:r>
              <a:rPr lang="en-US" dirty="0">
                <a:latin typeface="Arial Black" panose="020B0A04020102020204" pitchFamily="34" charset="0"/>
              </a:rPr>
              <a:t>Abstract</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AF5E17AA-0768-7EBC-5D50-2791A8C4713A}"/>
              </a:ext>
            </a:extLst>
          </p:cNvPr>
          <p:cNvSpPr>
            <a:spLocks noGrp="1"/>
          </p:cNvSpPr>
          <p:nvPr>
            <p:ph idx="1"/>
          </p:nvPr>
        </p:nvSpPr>
        <p:spPr/>
        <p:txBody>
          <a:bodyPr/>
          <a:lstStyle/>
          <a:p>
            <a:r>
              <a:rPr lang="en-US" dirty="0"/>
              <a:t>A Battery Management System (BMS) is an essential component of electric vehicles and energy storage systems. It continuously monitors battery voltage, current, temperature, State of Charge (SOC), and charging/discharging conditions to ensure safe and efficient battery operation. Improper battery management can lead to overheating, reduced battery life, and safety hazards. This project develops a MATLAB/Simulink-based BMS simulation model to monitor battery parameters and protect the battery from overcharging, deep discharge, and excessive temperature conditions. The simulation helps improve battery performance, reliability, efficiency, and operational safety.</a:t>
            </a:r>
            <a:endParaRPr lang="en-IN" dirty="0"/>
          </a:p>
        </p:txBody>
      </p:sp>
    </p:spTree>
    <p:extLst>
      <p:ext uri="{BB962C8B-B14F-4D97-AF65-F5344CB8AC3E}">
        <p14:creationId xmlns:p14="http://schemas.microsoft.com/office/powerpoint/2010/main" val="4029513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D91E5-F20F-DD04-5DE2-7A4C41AEE22C}"/>
              </a:ext>
            </a:extLst>
          </p:cNvPr>
          <p:cNvSpPr>
            <a:spLocks noGrp="1"/>
          </p:cNvSpPr>
          <p:nvPr>
            <p:ph type="title"/>
          </p:nvPr>
        </p:nvSpPr>
        <p:spPr/>
        <p:txBody>
          <a:bodyPr/>
          <a:lstStyle/>
          <a:p>
            <a:pPr algn="ctr"/>
            <a:r>
              <a:rPr lang="en-US" dirty="0">
                <a:latin typeface="Arial Black" panose="020B0A04020102020204" pitchFamily="34" charset="0"/>
              </a:rPr>
              <a:t>Introduction</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0D106620-8E87-7846-5784-E4F195D0E132}"/>
              </a:ext>
            </a:extLst>
          </p:cNvPr>
          <p:cNvSpPr>
            <a:spLocks noGrp="1"/>
          </p:cNvSpPr>
          <p:nvPr>
            <p:ph idx="1"/>
          </p:nvPr>
        </p:nvSpPr>
        <p:spPr/>
        <p:txBody>
          <a:bodyPr/>
          <a:lstStyle/>
          <a:p>
            <a:r>
              <a:rPr lang="en-US" dirty="0"/>
              <a:t>The battery is the most critical and expensive component in an electric vehicle. Efficient battery management is necessary to maximize battery life and ensure safe operation. A Battery Management System acts as the "brain" of the battery pack by continuously monitoring and controlling battery conditions. It measures voltage, current, temperature, and charging status while protecting the battery from abnormal operating conditions. BMS technology plays a crucial role in electric vehicles, renewable energy systems, and portable electronic devices.</a:t>
            </a:r>
            <a:endParaRPr lang="en-IN" dirty="0"/>
          </a:p>
        </p:txBody>
      </p:sp>
    </p:spTree>
    <p:extLst>
      <p:ext uri="{BB962C8B-B14F-4D97-AF65-F5344CB8AC3E}">
        <p14:creationId xmlns:p14="http://schemas.microsoft.com/office/powerpoint/2010/main" val="3418076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6EC-1524-49F9-9955-46DE6FCBDAE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FB08EEB-047F-E0AD-3CBC-58F11D7A8482}"/>
              </a:ext>
            </a:extLst>
          </p:cNvPr>
          <p:cNvSpPr>
            <a:spLocks noGrp="1"/>
          </p:cNvSpPr>
          <p:nvPr>
            <p:ph idx="1"/>
          </p:nvPr>
        </p:nvSpPr>
        <p:spPr/>
        <p:txBody>
          <a:bodyPr>
            <a:normAutofit fontScale="77500" lnSpcReduction="20000"/>
          </a:bodyPr>
          <a:lstStyle/>
          <a:p>
            <a:pPr>
              <a:buFont typeface="Wingdings" panose="05000000000000000000" pitchFamily="2" charset="2"/>
              <a:buChar char="v"/>
            </a:pPr>
            <a:r>
              <a:rPr lang="en-US" dirty="0"/>
              <a:t>Objectives:</a:t>
            </a:r>
          </a:p>
          <a:p>
            <a:r>
              <a:rPr lang="en-US" dirty="0"/>
              <a:t>Monitor battery voltage and current.</a:t>
            </a:r>
          </a:p>
          <a:p>
            <a:r>
              <a:rPr lang="en-US" dirty="0"/>
              <a:t>Monitor battery temperature.</a:t>
            </a:r>
          </a:p>
          <a:p>
            <a:r>
              <a:rPr lang="en-US" dirty="0"/>
              <a:t>Prevent overcharging and deep discharge.</a:t>
            </a:r>
          </a:p>
          <a:p>
            <a:r>
              <a:rPr lang="en-US" dirty="0"/>
              <a:t>Improve battery safety and performance.</a:t>
            </a:r>
          </a:p>
          <a:p>
            <a:r>
              <a:rPr lang="en-US" dirty="0"/>
              <a:t>Analyze charging and discharging behavior.</a:t>
            </a:r>
          </a:p>
          <a:p>
            <a:r>
              <a:rPr lang="en-US" dirty="0"/>
              <a:t>Estimate State of Charge (SOC).</a:t>
            </a:r>
          </a:p>
          <a:p>
            <a:pPr>
              <a:buFont typeface="Wingdings" panose="05000000000000000000" pitchFamily="2" charset="2"/>
              <a:buChar char="v"/>
            </a:pPr>
            <a:r>
              <a:rPr lang="en-US" dirty="0"/>
              <a:t>Theory</a:t>
            </a:r>
          </a:p>
          <a:p>
            <a:r>
              <a:rPr lang="en-US" dirty="0"/>
              <a:t>The Battery Management System continuously collects data from sensors placed throughout the battery pack. The collected information is analyzed to determine battery health and operating conditions. If abnormal conditions such as high temperature or overvoltage occur, the BMS activates protection mechanisms to prevent battery damage and ensure safe operation.</a:t>
            </a:r>
            <a:endParaRPr lang="en-IN" dirty="0"/>
          </a:p>
        </p:txBody>
      </p:sp>
    </p:spTree>
    <p:extLst>
      <p:ext uri="{BB962C8B-B14F-4D97-AF65-F5344CB8AC3E}">
        <p14:creationId xmlns:p14="http://schemas.microsoft.com/office/powerpoint/2010/main" val="796335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C0DF4-A403-7731-C498-F0B973CF64FE}"/>
              </a:ext>
            </a:extLst>
          </p:cNvPr>
          <p:cNvSpPr>
            <a:spLocks noGrp="1"/>
          </p:cNvSpPr>
          <p:nvPr>
            <p:ph type="title"/>
          </p:nvPr>
        </p:nvSpPr>
        <p:spPr>
          <a:xfrm>
            <a:off x="838200" y="-383457"/>
            <a:ext cx="10515600" cy="1814690"/>
          </a:xfrm>
        </p:spPr>
        <p:txBody>
          <a:bodyPr/>
          <a:lstStyle/>
          <a:p>
            <a:r>
              <a:rPr lang="en-US" dirty="0">
                <a:latin typeface="Arial Black" panose="020B0A04020102020204" pitchFamily="34" charset="0"/>
              </a:rPr>
              <a:t>BMS  Architecture</a:t>
            </a:r>
            <a:endParaRPr lang="en-IN"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9F3310B1-A50A-AF3A-F1BC-39BE2FF1FB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944" y="841887"/>
            <a:ext cx="3925430" cy="219259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a:extLst>
              <a:ext uri="{FF2B5EF4-FFF2-40B4-BE49-F238E27FC236}">
                <a16:creationId xmlns:a16="http://schemas.microsoft.com/office/drawing/2014/main" id="{5CB6F63A-09C1-BC83-88BE-76FA540BC2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1671" y="710381"/>
            <a:ext cx="4326197" cy="245560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9" name="Picture 8">
            <a:extLst>
              <a:ext uri="{FF2B5EF4-FFF2-40B4-BE49-F238E27FC236}">
                <a16:creationId xmlns:a16="http://schemas.microsoft.com/office/drawing/2014/main" id="{D8C1AB1F-B078-7F8E-8928-743BAE32D0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610" y="3851787"/>
            <a:ext cx="4107425" cy="290036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1" name="Picture 10">
            <a:extLst>
              <a:ext uri="{FF2B5EF4-FFF2-40B4-BE49-F238E27FC236}">
                <a16:creationId xmlns:a16="http://schemas.microsoft.com/office/drawing/2014/main" id="{186F9DFA-8CED-03EA-28A1-CAC5C4655E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2009" y="4064549"/>
            <a:ext cx="4689991" cy="279345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3" name="Picture 12">
            <a:extLst>
              <a:ext uri="{FF2B5EF4-FFF2-40B4-BE49-F238E27FC236}">
                <a16:creationId xmlns:a16="http://schemas.microsoft.com/office/drawing/2014/main" id="{A0B19CCD-914E-46A8-4094-B8926136D7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18035" y="2811174"/>
            <a:ext cx="3283975" cy="150971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14" name="TextBox 13">
            <a:extLst>
              <a:ext uri="{FF2B5EF4-FFF2-40B4-BE49-F238E27FC236}">
                <a16:creationId xmlns:a16="http://schemas.microsoft.com/office/drawing/2014/main" id="{B69B1459-96B4-59C1-97DD-3B017CF33F83}"/>
              </a:ext>
            </a:extLst>
          </p:cNvPr>
          <p:cNvSpPr txBox="1"/>
          <p:nvPr/>
        </p:nvSpPr>
        <p:spPr>
          <a:xfrm>
            <a:off x="4522842" y="848185"/>
            <a:ext cx="3925430" cy="1200329"/>
          </a:xfrm>
          <a:prstGeom prst="rect">
            <a:avLst/>
          </a:prstGeom>
          <a:noFill/>
        </p:spPr>
        <p:txBody>
          <a:bodyPr wrap="square" rtlCol="0">
            <a:spAutoFit/>
          </a:bodyPr>
          <a:lstStyle/>
          <a:p>
            <a:r>
              <a:rPr lang="en-US" dirty="0"/>
              <a:t>Battery Pack.</a:t>
            </a:r>
          </a:p>
          <a:p>
            <a:r>
              <a:rPr lang="en-US" dirty="0"/>
              <a:t>Voltage Sensor.</a:t>
            </a:r>
          </a:p>
          <a:p>
            <a:r>
              <a:rPr lang="en-US" dirty="0"/>
              <a:t>Current Sensor.</a:t>
            </a:r>
          </a:p>
          <a:p>
            <a:r>
              <a:rPr lang="en-US" dirty="0"/>
              <a:t>Temperature Sensor.</a:t>
            </a:r>
            <a:endParaRPr lang="en-IN" dirty="0"/>
          </a:p>
        </p:txBody>
      </p:sp>
      <p:sp>
        <p:nvSpPr>
          <p:cNvPr id="16" name="TextBox 15">
            <a:extLst>
              <a:ext uri="{FF2B5EF4-FFF2-40B4-BE49-F238E27FC236}">
                <a16:creationId xmlns:a16="http://schemas.microsoft.com/office/drawing/2014/main" id="{B1A84E34-B089-CEE8-AC7A-3B9895D014FB}"/>
              </a:ext>
            </a:extLst>
          </p:cNvPr>
          <p:cNvSpPr txBox="1"/>
          <p:nvPr/>
        </p:nvSpPr>
        <p:spPr>
          <a:xfrm>
            <a:off x="4591664" y="4670323"/>
            <a:ext cx="3008671" cy="1200329"/>
          </a:xfrm>
          <a:prstGeom prst="rect">
            <a:avLst/>
          </a:prstGeom>
          <a:noFill/>
        </p:spPr>
        <p:txBody>
          <a:bodyPr wrap="square" rtlCol="0">
            <a:spAutoFit/>
          </a:bodyPr>
          <a:lstStyle/>
          <a:p>
            <a:r>
              <a:rPr lang="en-US" dirty="0"/>
              <a:t>BMS Controller.</a:t>
            </a:r>
          </a:p>
          <a:p>
            <a:r>
              <a:rPr lang="en-US" dirty="0"/>
              <a:t>Protection Circuit.</a:t>
            </a:r>
          </a:p>
          <a:p>
            <a:r>
              <a:rPr lang="en-US" dirty="0"/>
              <a:t>Communication Module.</a:t>
            </a:r>
          </a:p>
          <a:p>
            <a:r>
              <a:rPr lang="en-US" dirty="0"/>
              <a:t>Charger Interface.</a:t>
            </a:r>
            <a:endParaRPr lang="en-IN" dirty="0"/>
          </a:p>
        </p:txBody>
      </p:sp>
    </p:spTree>
    <p:extLst>
      <p:ext uri="{BB962C8B-B14F-4D97-AF65-F5344CB8AC3E}">
        <p14:creationId xmlns:p14="http://schemas.microsoft.com/office/powerpoint/2010/main" val="4230199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B85B4-2994-CF6A-3538-700E59C2C09B}"/>
              </a:ext>
            </a:extLst>
          </p:cNvPr>
          <p:cNvSpPr>
            <a:spLocks noGrp="1"/>
          </p:cNvSpPr>
          <p:nvPr>
            <p:ph type="title"/>
          </p:nvPr>
        </p:nvSpPr>
        <p:spPr/>
        <p:txBody>
          <a:bodyPr/>
          <a:lstStyle/>
          <a:p>
            <a:r>
              <a:rPr lang="en-IN" dirty="0">
                <a:latin typeface="Arial Black" panose="020B0A04020102020204" pitchFamily="34" charset="0"/>
              </a:rPr>
              <a:t>Working Principle of BMS</a:t>
            </a:r>
          </a:p>
        </p:txBody>
      </p:sp>
      <p:sp>
        <p:nvSpPr>
          <p:cNvPr id="3" name="Content Placeholder 2">
            <a:extLst>
              <a:ext uri="{FF2B5EF4-FFF2-40B4-BE49-F238E27FC236}">
                <a16:creationId xmlns:a16="http://schemas.microsoft.com/office/drawing/2014/main" id="{FB0C3434-B0CB-4F1E-6646-A2033F6C9DA1}"/>
              </a:ext>
            </a:extLst>
          </p:cNvPr>
          <p:cNvSpPr>
            <a:spLocks noGrp="1"/>
          </p:cNvSpPr>
          <p:nvPr>
            <p:ph idx="1"/>
          </p:nvPr>
        </p:nvSpPr>
        <p:spPr/>
        <p:txBody>
          <a:bodyPr/>
          <a:lstStyle/>
          <a:p>
            <a:r>
              <a:rPr lang="en-US" dirty="0"/>
              <a:t>Step 1:Measure battery voltage.</a:t>
            </a:r>
          </a:p>
          <a:p>
            <a:r>
              <a:rPr lang="en-US" dirty="0"/>
              <a:t>Step 2:Measure battery current.</a:t>
            </a:r>
          </a:p>
          <a:p>
            <a:r>
              <a:rPr lang="en-US" dirty="0"/>
              <a:t>Step 3:Monitor battery temperature.</a:t>
            </a:r>
          </a:p>
          <a:p>
            <a:r>
              <a:rPr lang="en-US" dirty="0"/>
              <a:t>Step 4:Estimate State of Charge (SOC).</a:t>
            </a:r>
          </a:p>
          <a:p>
            <a:r>
              <a:rPr lang="en-US" dirty="0"/>
              <a:t>Step 5:Detect fault conditions.</a:t>
            </a:r>
          </a:p>
          <a:p>
            <a:r>
              <a:rPr lang="en-US" dirty="0"/>
              <a:t>Step 6:Control charging and discharging.</a:t>
            </a:r>
          </a:p>
          <a:p>
            <a:r>
              <a:rPr lang="en-US" dirty="0"/>
              <a:t>Step 7:Generate warning signals if limits are exceeded.</a:t>
            </a:r>
          </a:p>
          <a:p>
            <a:r>
              <a:rPr lang="en-US" dirty="0"/>
              <a:t>Step 8:Protect battery from damage.</a:t>
            </a:r>
            <a:endParaRPr lang="en-IN" dirty="0"/>
          </a:p>
        </p:txBody>
      </p:sp>
    </p:spTree>
    <p:extLst>
      <p:ext uri="{BB962C8B-B14F-4D97-AF65-F5344CB8AC3E}">
        <p14:creationId xmlns:p14="http://schemas.microsoft.com/office/powerpoint/2010/main" val="2615867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12AD-CFFE-0DB3-CB03-070982E09C1C}"/>
              </a:ext>
            </a:extLst>
          </p:cNvPr>
          <p:cNvSpPr>
            <a:spLocks noGrp="1"/>
          </p:cNvSpPr>
          <p:nvPr>
            <p:ph type="title"/>
          </p:nvPr>
        </p:nvSpPr>
        <p:spPr>
          <a:xfrm>
            <a:off x="838200" y="365125"/>
            <a:ext cx="10515600" cy="549275"/>
          </a:xfrm>
        </p:spPr>
        <p:txBody>
          <a:bodyPr>
            <a:normAutofit fontScale="90000"/>
          </a:bodyPr>
          <a:lstStyle/>
          <a:p>
            <a:r>
              <a:rPr lang="en-IN" dirty="0">
                <a:latin typeface="Arial Black" panose="020B0A04020102020204" pitchFamily="34" charset="0"/>
              </a:rPr>
              <a:t>MATLAB/Simulink BMS Model</a:t>
            </a:r>
          </a:p>
        </p:txBody>
      </p:sp>
      <p:pic>
        <p:nvPicPr>
          <p:cNvPr id="9" name="Content Placeholder 8">
            <a:extLst>
              <a:ext uri="{FF2B5EF4-FFF2-40B4-BE49-F238E27FC236}">
                <a16:creationId xmlns:a16="http://schemas.microsoft.com/office/drawing/2014/main" id="{9233D0F7-B615-7BFB-B141-4103D5AC91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625" y="1148710"/>
            <a:ext cx="4424517" cy="228029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1" name="Picture 10">
            <a:extLst>
              <a:ext uri="{FF2B5EF4-FFF2-40B4-BE49-F238E27FC236}">
                <a16:creationId xmlns:a16="http://schemas.microsoft.com/office/drawing/2014/main" id="{8718208B-3943-86DE-D32B-C1F5502039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472" y="1148710"/>
            <a:ext cx="5279922" cy="228029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3" name="Picture 12">
            <a:extLst>
              <a:ext uri="{FF2B5EF4-FFF2-40B4-BE49-F238E27FC236}">
                <a16:creationId xmlns:a16="http://schemas.microsoft.com/office/drawing/2014/main" id="{B0A80ABF-6577-6400-97B4-79E48AF1D7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625" y="3768138"/>
            <a:ext cx="4552336" cy="27247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5" name="Picture 14">
            <a:extLst>
              <a:ext uri="{FF2B5EF4-FFF2-40B4-BE49-F238E27FC236}">
                <a16:creationId xmlns:a16="http://schemas.microsoft.com/office/drawing/2014/main" id="{A4A582F5-B9AB-DF3D-B929-12D3AB98BB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1472" y="3768137"/>
            <a:ext cx="5456904" cy="29073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670124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70EACA-677B-B417-2D58-316C340E9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090" y="403583"/>
            <a:ext cx="5297128" cy="292955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4">
            <a:extLst>
              <a:ext uri="{FF2B5EF4-FFF2-40B4-BE49-F238E27FC236}">
                <a16:creationId xmlns:a16="http://schemas.microsoft.com/office/drawing/2014/main" id="{41FA2CF4-24F7-6970-968D-8AAEA99EB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497" y="403583"/>
            <a:ext cx="5749413" cy="281156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CFA9CDAB-7702-C59C-A2E3-10271B1A1AD8}"/>
              </a:ext>
            </a:extLst>
          </p:cNvPr>
          <p:cNvSpPr txBox="1"/>
          <p:nvPr/>
        </p:nvSpPr>
        <p:spPr>
          <a:xfrm>
            <a:off x="2222090" y="3429000"/>
            <a:ext cx="5486400" cy="2585323"/>
          </a:xfrm>
          <a:prstGeom prst="rect">
            <a:avLst/>
          </a:prstGeom>
          <a:noFill/>
        </p:spPr>
        <p:txBody>
          <a:bodyPr wrap="square" rtlCol="0">
            <a:spAutoFit/>
          </a:bodyPr>
          <a:lstStyle/>
          <a:p>
            <a:r>
              <a:rPr lang="en-IN" dirty="0"/>
              <a:t>The simulation model consists of:</a:t>
            </a:r>
          </a:p>
          <a:p>
            <a:pPr marL="342900" indent="-342900">
              <a:buFont typeface="+mj-lt"/>
              <a:buAutoNum type="arabicPeriod"/>
            </a:pPr>
            <a:r>
              <a:rPr lang="en-IN" dirty="0"/>
              <a:t>Battery Block</a:t>
            </a:r>
          </a:p>
          <a:p>
            <a:pPr marL="342900" indent="-342900">
              <a:buFont typeface="+mj-lt"/>
              <a:buAutoNum type="arabicPeriod"/>
            </a:pPr>
            <a:r>
              <a:rPr lang="en-IN" dirty="0"/>
              <a:t>Voltage Sensor</a:t>
            </a:r>
          </a:p>
          <a:p>
            <a:pPr marL="342900" indent="-342900">
              <a:buFont typeface="+mj-lt"/>
              <a:buAutoNum type="arabicPeriod"/>
            </a:pPr>
            <a:r>
              <a:rPr lang="en-IN" dirty="0"/>
              <a:t>Current Sensor</a:t>
            </a:r>
          </a:p>
          <a:p>
            <a:pPr marL="342900" indent="-342900">
              <a:buFont typeface="+mj-lt"/>
              <a:buAutoNum type="arabicPeriod"/>
            </a:pPr>
            <a:r>
              <a:rPr lang="en-IN" dirty="0"/>
              <a:t>Temperature Sensor</a:t>
            </a:r>
          </a:p>
          <a:p>
            <a:pPr marL="342900" indent="-342900">
              <a:buFont typeface="+mj-lt"/>
              <a:buAutoNum type="arabicPeriod"/>
            </a:pPr>
            <a:r>
              <a:rPr lang="en-IN" dirty="0"/>
              <a:t>SOC Estimator</a:t>
            </a:r>
          </a:p>
          <a:p>
            <a:pPr marL="342900" indent="-342900">
              <a:buFont typeface="+mj-lt"/>
              <a:buAutoNum type="arabicPeriod"/>
            </a:pPr>
            <a:r>
              <a:rPr lang="en-IN" dirty="0"/>
              <a:t>Protection Logic</a:t>
            </a:r>
          </a:p>
          <a:p>
            <a:pPr marL="342900" indent="-342900">
              <a:buFont typeface="+mj-lt"/>
              <a:buAutoNum type="arabicPeriod"/>
            </a:pPr>
            <a:r>
              <a:rPr lang="en-IN" dirty="0"/>
              <a:t>Charging Circuit</a:t>
            </a:r>
          </a:p>
          <a:p>
            <a:pPr marL="342900" indent="-342900">
              <a:buFont typeface="+mj-lt"/>
              <a:buAutoNum type="arabicPeriod"/>
            </a:pPr>
            <a:r>
              <a:rPr lang="en-IN" dirty="0"/>
              <a:t>Monitoring Scopes</a:t>
            </a:r>
          </a:p>
        </p:txBody>
      </p:sp>
    </p:spTree>
    <p:extLst>
      <p:ext uri="{BB962C8B-B14F-4D97-AF65-F5344CB8AC3E}">
        <p14:creationId xmlns:p14="http://schemas.microsoft.com/office/powerpoint/2010/main" val="3829559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103C3-155D-5D44-7CDC-6A9FC7E098C0}"/>
              </a:ext>
            </a:extLst>
          </p:cNvPr>
          <p:cNvSpPr>
            <a:spLocks noGrp="1"/>
          </p:cNvSpPr>
          <p:nvPr>
            <p:ph type="title"/>
          </p:nvPr>
        </p:nvSpPr>
        <p:spPr/>
        <p:txBody>
          <a:bodyPr/>
          <a:lstStyle/>
          <a:p>
            <a:r>
              <a:rPr lang="en-IN" dirty="0">
                <a:latin typeface="Arial Black" panose="020B0A04020102020204" pitchFamily="34" charset="0"/>
              </a:rPr>
              <a:t>Methodology (Step-by-Step Process)</a:t>
            </a:r>
          </a:p>
        </p:txBody>
      </p:sp>
      <p:sp>
        <p:nvSpPr>
          <p:cNvPr id="3" name="Content Placeholder 2">
            <a:extLst>
              <a:ext uri="{FF2B5EF4-FFF2-40B4-BE49-F238E27FC236}">
                <a16:creationId xmlns:a16="http://schemas.microsoft.com/office/drawing/2014/main" id="{B2043C45-22CA-B67D-7D50-56DB95F9364E}"/>
              </a:ext>
            </a:extLst>
          </p:cNvPr>
          <p:cNvSpPr>
            <a:spLocks noGrp="1"/>
          </p:cNvSpPr>
          <p:nvPr>
            <p:ph idx="1"/>
          </p:nvPr>
        </p:nvSpPr>
        <p:spPr/>
        <p:txBody>
          <a:bodyPr>
            <a:normAutofit fontScale="92500" lnSpcReduction="20000"/>
          </a:bodyPr>
          <a:lstStyle/>
          <a:p>
            <a:r>
              <a:rPr lang="en-IN" dirty="0"/>
              <a:t>Study Battery Management System operation.</a:t>
            </a:r>
          </a:p>
          <a:p>
            <a:r>
              <a:rPr lang="en-IN" dirty="0"/>
              <a:t>Create battery model in MATLAB/Simulink.</a:t>
            </a:r>
          </a:p>
          <a:p>
            <a:r>
              <a:rPr lang="en-IN" dirty="0"/>
              <a:t>Add voltage monitoring circuit.</a:t>
            </a:r>
          </a:p>
          <a:p>
            <a:r>
              <a:rPr lang="en-IN" dirty="0"/>
              <a:t>Add temperature sensing module.</a:t>
            </a:r>
          </a:p>
          <a:p>
            <a:r>
              <a:rPr lang="en-IN" dirty="0"/>
              <a:t>Configure charging and discharging conditions.</a:t>
            </a:r>
          </a:p>
          <a:p>
            <a:r>
              <a:rPr lang="en-IN" dirty="0"/>
              <a:t>Implement protection logic.</a:t>
            </a:r>
          </a:p>
          <a:p>
            <a:r>
              <a:rPr lang="en-IN" dirty="0"/>
              <a:t>Simulate various operating conditions.</a:t>
            </a:r>
          </a:p>
          <a:p>
            <a:r>
              <a:rPr lang="en-IN" dirty="0"/>
              <a:t>Observe voltage, current, SOC, and temperature.</a:t>
            </a:r>
          </a:p>
          <a:p>
            <a:r>
              <a:rPr lang="en-IN" dirty="0" err="1"/>
              <a:t>Analyze</a:t>
            </a:r>
            <a:r>
              <a:rPr lang="en-IN" dirty="0"/>
              <a:t> results.</a:t>
            </a:r>
          </a:p>
          <a:p>
            <a:r>
              <a:rPr lang="en-IN" dirty="0"/>
              <a:t>Evaluate battery safety and performance</a:t>
            </a:r>
          </a:p>
        </p:txBody>
      </p:sp>
    </p:spTree>
    <p:extLst>
      <p:ext uri="{BB962C8B-B14F-4D97-AF65-F5344CB8AC3E}">
        <p14:creationId xmlns:p14="http://schemas.microsoft.com/office/powerpoint/2010/main" val="2125696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77101-7866-8573-9107-68B5766B85EC}"/>
              </a:ext>
            </a:extLst>
          </p:cNvPr>
          <p:cNvSpPr>
            <a:spLocks noGrp="1"/>
          </p:cNvSpPr>
          <p:nvPr>
            <p:ph type="title"/>
          </p:nvPr>
        </p:nvSpPr>
        <p:spPr/>
        <p:txBody>
          <a:bodyPr/>
          <a:lstStyle/>
          <a:p>
            <a:r>
              <a:rPr lang="en-IN" dirty="0">
                <a:latin typeface="Arial Black" panose="020B0A04020102020204" pitchFamily="34" charset="0"/>
              </a:rPr>
              <a:t>Charging and Discharging Analysis</a:t>
            </a:r>
          </a:p>
        </p:txBody>
      </p:sp>
      <p:pic>
        <p:nvPicPr>
          <p:cNvPr id="5" name="Content Placeholder 4">
            <a:extLst>
              <a:ext uri="{FF2B5EF4-FFF2-40B4-BE49-F238E27FC236}">
                <a16:creationId xmlns:a16="http://schemas.microsoft.com/office/drawing/2014/main" id="{93AF03E2-D961-C797-95EB-3F499B6DB5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625" y="1654918"/>
            <a:ext cx="3303925" cy="1603375"/>
          </a:xfrm>
          <a:prstGeom prst="rect">
            <a:avLst/>
          </a:prstGeom>
        </p:spPr>
      </p:pic>
      <p:pic>
        <p:nvPicPr>
          <p:cNvPr id="7" name="Picture 6">
            <a:extLst>
              <a:ext uri="{FF2B5EF4-FFF2-40B4-BE49-F238E27FC236}">
                <a16:creationId xmlns:a16="http://schemas.microsoft.com/office/drawing/2014/main" id="{809A2825-7D91-B921-357B-4DF77B1DA2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5353" y="1027906"/>
            <a:ext cx="4358436" cy="5097591"/>
          </a:xfrm>
          <a:prstGeom prst="rect">
            <a:avLst/>
          </a:prstGeom>
        </p:spPr>
      </p:pic>
      <p:pic>
        <p:nvPicPr>
          <p:cNvPr id="11" name="Picture 10">
            <a:extLst>
              <a:ext uri="{FF2B5EF4-FFF2-40B4-BE49-F238E27FC236}">
                <a16:creationId xmlns:a16="http://schemas.microsoft.com/office/drawing/2014/main" id="{F42B03A8-6A45-42DE-139C-C87011CD35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5241" y="1306526"/>
            <a:ext cx="3303925" cy="2335929"/>
          </a:xfrm>
          <a:prstGeom prst="rect">
            <a:avLst/>
          </a:prstGeom>
        </p:spPr>
      </p:pic>
      <p:pic>
        <p:nvPicPr>
          <p:cNvPr id="13" name="Picture 12">
            <a:extLst>
              <a:ext uri="{FF2B5EF4-FFF2-40B4-BE49-F238E27FC236}">
                <a16:creationId xmlns:a16="http://schemas.microsoft.com/office/drawing/2014/main" id="{C31F57D4-B7E7-50F9-A7AD-72C6ABAE6E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729" y="3599708"/>
            <a:ext cx="3222523" cy="2878059"/>
          </a:xfrm>
          <a:prstGeom prst="rect">
            <a:avLst/>
          </a:prstGeom>
        </p:spPr>
      </p:pic>
      <p:pic>
        <p:nvPicPr>
          <p:cNvPr id="15" name="Picture 14">
            <a:extLst>
              <a:ext uri="{FF2B5EF4-FFF2-40B4-BE49-F238E27FC236}">
                <a16:creationId xmlns:a16="http://schemas.microsoft.com/office/drawing/2014/main" id="{E582816D-2446-7693-1BF0-E80EA4487F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37254" y="3642455"/>
            <a:ext cx="3691727" cy="2893167"/>
          </a:xfrm>
          <a:prstGeom prst="rect">
            <a:avLst/>
          </a:prstGeom>
        </p:spPr>
      </p:pic>
    </p:spTree>
    <p:extLst>
      <p:ext uri="{BB962C8B-B14F-4D97-AF65-F5344CB8AC3E}">
        <p14:creationId xmlns:p14="http://schemas.microsoft.com/office/powerpoint/2010/main" val="1686031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4F6D-C984-0A8C-8FC7-175E36C111B7}"/>
              </a:ext>
            </a:extLst>
          </p:cNvPr>
          <p:cNvSpPr>
            <a:spLocks noGrp="1"/>
          </p:cNvSpPr>
          <p:nvPr>
            <p:ph type="title"/>
          </p:nvPr>
        </p:nvSpPr>
        <p:spPr/>
        <p:txBody>
          <a:bodyPr/>
          <a:lstStyle/>
          <a:p>
            <a:r>
              <a:rPr lang="en-IN" dirty="0">
                <a:latin typeface="Arial Black" panose="020B0A04020102020204" pitchFamily="34" charset="0"/>
              </a:rPr>
              <a:t>Results and Performance Analysis</a:t>
            </a:r>
          </a:p>
        </p:txBody>
      </p:sp>
      <p:sp>
        <p:nvSpPr>
          <p:cNvPr id="3" name="Content Placeholder 2">
            <a:extLst>
              <a:ext uri="{FF2B5EF4-FFF2-40B4-BE49-F238E27FC236}">
                <a16:creationId xmlns:a16="http://schemas.microsoft.com/office/drawing/2014/main" id="{A8B09CFE-2C31-F93B-1BC3-FBA2DD8BD739}"/>
              </a:ext>
            </a:extLst>
          </p:cNvPr>
          <p:cNvSpPr>
            <a:spLocks noGrp="1"/>
          </p:cNvSpPr>
          <p:nvPr>
            <p:ph idx="1"/>
          </p:nvPr>
        </p:nvSpPr>
        <p:spPr/>
        <p:txBody>
          <a:bodyPr>
            <a:normAutofit fontScale="85000" lnSpcReduction="20000"/>
          </a:bodyPr>
          <a:lstStyle/>
          <a:p>
            <a:pPr>
              <a:buFont typeface="Wingdings" panose="05000000000000000000" pitchFamily="2" charset="2"/>
              <a:buChar char="v"/>
            </a:pPr>
            <a:r>
              <a:rPr lang="en-US" dirty="0"/>
              <a:t>Observed Parameters:</a:t>
            </a:r>
          </a:p>
          <a:p>
            <a:r>
              <a:rPr lang="en-US" dirty="0"/>
              <a:t>Battery Voltage</a:t>
            </a:r>
          </a:p>
          <a:p>
            <a:r>
              <a:rPr lang="en-US" dirty="0"/>
              <a:t>Battery Current</a:t>
            </a:r>
          </a:p>
          <a:p>
            <a:r>
              <a:rPr lang="en-US" dirty="0"/>
              <a:t>Battery Temperature</a:t>
            </a:r>
          </a:p>
          <a:p>
            <a:r>
              <a:rPr lang="en-US" dirty="0"/>
              <a:t>State of Charge (SOC).</a:t>
            </a:r>
          </a:p>
          <a:p>
            <a:r>
              <a:rPr lang="en-US" dirty="0"/>
              <a:t>Charging Efficiency</a:t>
            </a:r>
          </a:p>
          <a:p>
            <a:r>
              <a:rPr lang="en-US" dirty="0"/>
              <a:t>Discharging Rate</a:t>
            </a:r>
          </a:p>
          <a:p>
            <a:pPr>
              <a:buFont typeface="Wingdings" panose="05000000000000000000" pitchFamily="2" charset="2"/>
              <a:buChar char="v"/>
            </a:pPr>
            <a:r>
              <a:rPr lang="en-US" dirty="0"/>
              <a:t>Results:</a:t>
            </a:r>
          </a:p>
          <a:p>
            <a:r>
              <a:rPr lang="en-US" dirty="0"/>
              <a:t>The simulation shows that the BMS successfully monitors battery parameters and protects the battery from unsafe operating conditions. The voltage remains within safe limits, temperature is controlled, and charging/discharging processes are optimized to improve battery lifespan.</a:t>
            </a:r>
            <a:endParaRPr lang="en-IN" dirty="0"/>
          </a:p>
        </p:txBody>
      </p:sp>
    </p:spTree>
    <p:extLst>
      <p:ext uri="{BB962C8B-B14F-4D97-AF65-F5344CB8AC3E}">
        <p14:creationId xmlns:p14="http://schemas.microsoft.com/office/powerpoint/2010/main" val="3300316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1FD02-98CF-4312-3078-3F88A4D7A54C}"/>
              </a:ext>
            </a:extLst>
          </p:cNvPr>
          <p:cNvSpPr>
            <a:spLocks noGrp="1"/>
          </p:cNvSpPr>
          <p:nvPr>
            <p:ph type="title"/>
          </p:nvPr>
        </p:nvSpPr>
        <p:spPr/>
        <p:txBody>
          <a:bodyPr/>
          <a:lstStyle/>
          <a:p>
            <a:r>
              <a:rPr lang="en-US" dirty="0">
                <a:latin typeface="Arial Black" panose="020B0A04020102020204" pitchFamily="34" charset="0"/>
              </a:rPr>
              <a:t>Advantages &amp; Applications</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A0AFDB7B-333B-F178-EDE6-3108A382F3E0}"/>
              </a:ext>
            </a:extLst>
          </p:cNvPr>
          <p:cNvSpPr>
            <a:spLocks noGrp="1"/>
          </p:cNvSpPr>
          <p:nvPr>
            <p:ph sz="half" idx="1"/>
          </p:nvPr>
        </p:nvSpPr>
        <p:spPr/>
        <p:txBody>
          <a:bodyPr/>
          <a:lstStyle/>
          <a:p>
            <a:pPr>
              <a:buFont typeface="Wingdings" panose="05000000000000000000" pitchFamily="2" charset="2"/>
              <a:buChar char="v"/>
            </a:pPr>
            <a:r>
              <a:rPr lang="en-IN" dirty="0"/>
              <a:t>Advantages:</a:t>
            </a:r>
          </a:p>
          <a:p>
            <a:r>
              <a:rPr lang="en-IN" dirty="0"/>
              <a:t>Improved battery safety.</a:t>
            </a:r>
          </a:p>
          <a:p>
            <a:r>
              <a:rPr lang="en-IN" dirty="0"/>
              <a:t>Increased battery lifespan.</a:t>
            </a:r>
          </a:p>
          <a:p>
            <a:r>
              <a:rPr lang="en-IN" dirty="0"/>
              <a:t>Prevents overcharging.</a:t>
            </a:r>
          </a:p>
          <a:p>
            <a:r>
              <a:rPr lang="en-IN" dirty="0"/>
              <a:t>Prevents deep discharge.</a:t>
            </a:r>
          </a:p>
          <a:p>
            <a:r>
              <a:rPr lang="en-IN" dirty="0"/>
              <a:t>Temperature protection.</a:t>
            </a:r>
          </a:p>
          <a:p>
            <a:r>
              <a:rPr lang="en-IN" dirty="0"/>
              <a:t>Improved energy efficiency.</a:t>
            </a:r>
          </a:p>
          <a:p>
            <a:r>
              <a:rPr lang="en-IN" dirty="0"/>
              <a:t>Real-time battery monitoring.</a:t>
            </a:r>
          </a:p>
        </p:txBody>
      </p:sp>
      <p:sp>
        <p:nvSpPr>
          <p:cNvPr id="4" name="Content Placeholder 3">
            <a:extLst>
              <a:ext uri="{FF2B5EF4-FFF2-40B4-BE49-F238E27FC236}">
                <a16:creationId xmlns:a16="http://schemas.microsoft.com/office/drawing/2014/main" id="{F8E93239-9AD7-440E-3CEA-5EC4CFAC8DA0}"/>
              </a:ext>
            </a:extLst>
          </p:cNvPr>
          <p:cNvSpPr>
            <a:spLocks noGrp="1"/>
          </p:cNvSpPr>
          <p:nvPr>
            <p:ph sz="half" idx="2"/>
          </p:nvPr>
        </p:nvSpPr>
        <p:spPr/>
        <p:txBody>
          <a:bodyPr/>
          <a:lstStyle/>
          <a:p>
            <a:pPr>
              <a:buFont typeface="Wingdings" panose="05000000000000000000" pitchFamily="2" charset="2"/>
              <a:buChar char="v"/>
            </a:pPr>
            <a:r>
              <a:rPr lang="en-US" dirty="0"/>
              <a:t>Applications.</a:t>
            </a:r>
          </a:p>
          <a:p>
            <a:r>
              <a:rPr lang="en-IN" dirty="0"/>
              <a:t>Electric Vehicles (EVs)</a:t>
            </a:r>
          </a:p>
          <a:p>
            <a:r>
              <a:rPr lang="en-IN" dirty="0"/>
              <a:t>Solar Energy Storage Systems</a:t>
            </a:r>
          </a:p>
          <a:p>
            <a:r>
              <a:rPr lang="en-IN" dirty="0"/>
              <a:t>UPS Systems</a:t>
            </a:r>
          </a:p>
          <a:p>
            <a:r>
              <a:rPr lang="en-IN" dirty="0"/>
              <a:t>Electric Bicycles</a:t>
            </a:r>
          </a:p>
          <a:p>
            <a:r>
              <a:rPr lang="en-IN" dirty="0"/>
              <a:t>Portable Electronics</a:t>
            </a:r>
          </a:p>
          <a:p>
            <a:r>
              <a:rPr lang="en-IN" dirty="0"/>
              <a:t>Industrial Battery Banks</a:t>
            </a:r>
          </a:p>
        </p:txBody>
      </p:sp>
    </p:spTree>
    <p:extLst>
      <p:ext uri="{BB962C8B-B14F-4D97-AF65-F5344CB8AC3E}">
        <p14:creationId xmlns:p14="http://schemas.microsoft.com/office/powerpoint/2010/main" val="3377092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18D1-8E25-154A-4063-4218FB702318}"/>
              </a:ext>
            </a:extLst>
          </p:cNvPr>
          <p:cNvSpPr>
            <a:spLocks noGrp="1"/>
          </p:cNvSpPr>
          <p:nvPr>
            <p:ph type="title"/>
          </p:nvPr>
        </p:nvSpPr>
        <p:spPr/>
        <p:txBody>
          <a:bodyPr/>
          <a:lstStyle/>
          <a:p>
            <a:r>
              <a:rPr lang="en-IN" dirty="0">
                <a:latin typeface="Arial Black" panose="020B0A04020102020204" pitchFamily="34" charset="0"/>
              </a:rPr>
              <a:t>Conclusion &amp; References</a:t>
            </a:r>
          </a:p>
        </p:txBody>
      </p:sp>
      <p:sp>
        <p:nvSpPr>
          <p:cNvPr id="3" name="Content Placeholder 2">
            <a:extLst>
              <a:ext uri="{FF2B5EF4-FFF2-40B4-BE49-F238E27FC236}">
                <a16:creationId xmlns:a16="http://schemas.microsoft.com/office/drawing/2014/main" id="{F91483F8-6EC1-783A-0BB0-67670B8F211C}"/>
              </a:ext>
            </a:extLst>
          </p:cNvPr>
          <p:cNvSpPr>
            <a:spLocks noGrp="1"/>
          </p:cNvSpPr>
          <p:nvPr>
            <p:ph idx="1"/>
          </p:nvPr>
        </p:nvSpPr>
        <p:spPr/>
        <p:txBody>
          <a:bodyPr>
            <a:normAutofit fontScale="85000" lnSpcReduction="20000"/>
          </a:bodyPr>
          <a:lstStyle/>
          <a:p>
            <a:pPr>
              <a:buFont typeface="Wingdings" panose="05000000000000000000" pitchFamily="2" charset="2"/>
              <a:buChar char="v"/>
            </a:pPr>
            <a:r>
              <a:rPr lang="en-US" dirty="0"/>
              <a:t>Conclusion:</a:t>
            </a:r>
          </a:p>
          <a:p>
            <a:pPr marL="0" indent="0">
              <a:buNone/>
            </a:pPr>
            <a:r>
              <a:rPr lang="en-US" dirty="0"/>
              <a:t>The Battery Management System is essential for ensuring safe and efficient battery operation. Through continuous monitoring of voltage, current, temperature, and State of Charge, the BMS protects the battery from abnormal conditions and extends its lifespan. MATLAB/Simulink simulation demonstrates effective monitoring and control of charging and discharging processes, making the system highly suitable for electric vehicle and energy storage applications.</a:t>
            </a:r>
          </a:p>
          <a:p>
            <a:pPr marL="0" indent="0">
              <a:buNone/>
            </a:pPr>
            <a:r>
              <a:rPr lang="en-US" dirty="0"/>
              <a:t>References:</a:t>
            </a:r>
            <a:br>
              <a:rPr lang="en-US" dirty="0"/>
            </a:br>
            <a:r>
              <a:rPr lang="en-US" dirty="0"/>
              <a:t>MATLAB &amp; Simulink Documentation.</a:t>
            </a:r>
          </a:p>
          <a:p>
            <a:r>
              <a:rPr lang="en-US" dirty="0"/>
              <a:t>Battery Management Systems for Electric Vehicles.</a:t>
            </a:r>
          </a:p>
          <a:p>
            <a:r>
              <a:rPr lang="en-US" dirty="0"/>
              <a:t>IEEE Research Papers on BMS.</a:t>
            </a:r>
          </a:p>
          <a:p>
            <a:r>
              <a:rPr lang="en-US" dirty="0"/>
              <a:t>Lithium-Ion Battery Management Literature.</a:t>
            </a:r>
          </a:p>
          <a:p>
            <a:r>
              <a:rPr lang="en-US" dirty="0"/>
              <a:t>Electric Vehicle Battery Technology Books</a:t>
            </a:r>
            <a:endParaRPr lang="en-IN" dirty="0"/>
          </a:p>
        </p:txBody>
      </p:sp>
    </p:spTree>
    <p:extLst>
      <p:ext uri="{BB962C8B-B14F-4D97-AF65-F5344CB8AC3E}">
        <p14:creationId xmlns:p14="http://schemas.microsoft.com/office/powerpoint/2010/main" val="3653686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737</Words>
  <Application>Microsoft Office PowerPoint</Application>
  <PresentationFormat>Widescreen</PresentationFormat>
  <Paragraphs>93</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Black</vt:lpstr>
      <vt:lpstr>Bahnschrift Condensed</vt:lpstr>
      <vt:lpstr>Calibri</vt:lpstr>
      <vt:lpstr>Calibri Light</vt:lpstr>
      <vt:lpstr>Wingdings</vt:lpstr>
      <vt:lpstr>Office Theme</vt:lpstr>
      <vt:lpstr>Battery Management System (BMS) Simulation</vt:lpstr>
      <vt:lpstr>Abstract</vt:lpstr>
      <vt:lpstr>Introduction</vt:lpstr>
      <vt:lpstr>PowerPoint Presentation</vt:lpstr>
      <vt:lpstr>BMS  Architecture</vt:lpstr>
      <vt:lpstr>Working Principle of BMS</vt:lpstr>
      <vt:lpstr>MATLAB/Simulink BMS Model</vt:lpstr>
      <vt:lpstr>PowerPoint Presentation</vt:lpstr>
      <vt:lpstr>Methodology (Step-by-Step Process)</vt:lpstr>
      <vt:lpstr>Charging and Discharging Analysis</vt:lpstr>
      <vt:lpstr>Results and Performance Analysis</vt:lpstr>
      <vt:lpstr>Advantages &amp; Applications</vt:lpstr>
      <vt:lpstr>Conclusion &amp;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kunna rajesh</dc:creator>
  <cp:lastModifiedBy>kunna rajesh</cp:lastModifiedBy>
  <cp:revision>1</cp:revision>
  <dcterms:created xsi:type="dcterms:W3CDTF">2026-07-19T13:48:52Z</dcterms:created>
  <dcterms:modified xsi:type="dcterms:W3CDTF">2026-07-19T14:32:07Z</dcterms:modified>
</cp:coreProperties>
</file>